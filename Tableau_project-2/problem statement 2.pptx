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6280-EA67-93C5-8BF4-704A29DCC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59B47-708D-1E98-9F98-51767EF7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3AC2E-6A88-80EE-BE22-217C77F32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4E4B3-BBF8-1B75-AF61-68B75EC1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AC17B-4EDC-F526-EECE-528FA2041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8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FD83-B6EB-B188-9E89-E0D6DED9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4562-FE1A-BFB3-8D61-394A48BD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46BD0-82FE-06CB-33D6-ADDE21CC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C8832-F3B3-E1DC-8F85-02E5915B4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8195-3456-4E10-9EDF-8FBC57D3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8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9986-828A-13EA-BA98-1E495A7A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35C7B-C6F1-1B9B-3957-C61B56888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F4474-0E54-8669-B5ED-D6E518F0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C4B45-C32A-181E-CD1F-C5F1B61B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AB52A-5AE0-17D8-B8D7-3D4830F6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99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F663-EBB4-AE10-B2BC-97F80B7A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95E0-B1E6-F8A2-E675-27701DE57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1D6EA-8C47-A925-E9B3-19DAAE7BD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55D19-D780-B513-6553-EDE069E3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EF407-C0B9-EED0-7082-143A90A4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499CC-F4D4-008F-F239-AD2B49FB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3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1822-AFE1-A54E-D7E3-82DE9DB5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90FDB-C341-4A22-8409-5758F1DE4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447E2-F01D-0F45-AD9A-7BCE955B9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9FD88-0479-C7FF-028D-E6B207F5F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76479-E280-27E6-6838-19C802E2F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312C8D-F6D2-BCD7-606E-28248DBB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E2089D-86E3-1374-DD26-F03C37BCE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73720-8A47-815D-FA40-2723438C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91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991D-4506-C4B9-0113-437FD29F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F0D2E-A2E9-E192-1054-CD0BAEDF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35F33-59CA-3A89-C366-E6F476AC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2197F-F468-4866-2820-9EF427C1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4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7C407-ABFB-65D0-471F-60530F384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E652DB-72B2-10E7-CDDC-95E81C6F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AA6A2-FCCA-28BE-B3A5-E9C692ED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94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9318C-E09A-5638-7D90-3C999E71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4E171-832D-8ADF-8C6A-0AF5553B3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11C3C-A251-44A3-B95C-0F78B14DE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86C68-4637-F465-5CD4-81D36B9C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C5A2E-6378-E803-DEFC-127854E6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ABE2-C198-EA16-B885-2D67D5A6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3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12F1-ADDF-5DFC-E437-A3D3575A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ED4B2-5188-4E19-9C1B-01306D863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0F6D5-FDAB-8CCC-56D5-EDFFE6916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B9347-E06D-284C-5AA7-A12FA997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212E2-B662-DBB2-36A2-2D2AB1F7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9057-8940-D04A-095C-F5A87B0D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8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A00E-C8FA-4A29-1964-268239A50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0A1BC-9878-A21C-EC2D-1734FE21E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1F321-00B3-DDCA-7939-FD7E1001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E33B6-4588-7FB2-B124-3021F458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B0CE-740A-9CCA-8A2C-AAC3B38C9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0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C1374-8CAE-3F07-4F56-3A41E2A38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1EDCC-8F30-A481-979C-C03DCFB37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F5A8-96E8-D28A-EB5A-81BED18B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1FF3E-FD92-CA21-E388-4C030C37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DA0E2-3B9D-F55A-374D-45E09755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2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F6639-E538-9944-7EC1-EF1AA07E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689D0-B790-CA0F-1D1F-EDC1C733B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B28F-989E-8488-A81E-7C0098B66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ACF7A-0B64-42F4-988D-9D4B85A48DE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29A02-C308-51FC-389F-3DF67F3F7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C0F9C-D98F-F9A4-1107-8DBA88F90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1E974-8CA0-48BB-8D38-47FD13829F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CC17F5-8FCE-E5C3-6782-DC426B90D03B}"/>
              </a:ext>
            </a:extLst>
          </p:cNvPr>
          <p:cNvSpPr txBox="1"/>
          <p:nvPr/>
        </p:nvSpPr>
        <p:spPr>
          <a:xfrm>
            <a:off x="255639" y="224152"/>
            <a:ext cx="11867535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 1: Pareto Analysis of Employee Salaries by Job Role</a:t>
            </a:r>
          </a:p>
          <a:p>
            <a:pPr>
              <a:buNone/>
            </a:pPr>
            <a:r>
              <a:rPr lang="en-US" b="1" dirty="0"/>
              <a:t>🎯 Objective:</a:t>
            </a:r>
          </a:p>
          <a:p>
            <a:pPr>
              <a:buNone/>
            </a:pPr>
            <a:r>
              <a:rPr lang="en-US" dirty="0"/>
              <a:t>To identify which job roles and experience levels contribute the most to the total salary expenditure of the company, and to highlight the </a:t>
            </a:r>
            <a:r>
              <a:rPr lang="en-US" b="1" dirty="0"/>
              <a:t>80/20 distribution</a:t>
            </a:r>
            <a:r>
              <a:rPr lang="en-US" dirty="0"/>
              <a:t> — i.e., whether 20% of roles contribute to 80% of total salaries.</a:t>
            </a:r>
          </a:p>
          <a:p>
            <a:pPr>
              <a:buNone/>
            </a:pPr>
            <a:r>
              <a:rPr lang="en-US" b="1" dirty="0"/>
              <a:t>🧾 Dataset:</a:t>
            </a:r>
          </a:p>
          <a:p>
            <a:pPr>
              <a:buNone/>
            </a:pPr>
            <a:r>
              <a:rPr lang="en-US" dirty="0"/>
              <a:t>Use your uploaded dataset (</a:t>
            </a:r>
            <a:r>
              <a:rPr lang="en-US" dirty="0" err="1">
                <a:latin typeface="Courier New" panose="02070309020205020404" pitchFamily="49" charset="0"/>
              </a:rPr>
              <a:t>work_year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job_title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salary_in_usd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company_location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experience_level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company_size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b="1" dirty="0"/>
              <a:t>🔍 Key Questions:</a:t>
            </a:r>
          </a:p>
          <a:p>
            <a:pPr>
              <a:buFont typeface="+mj-lt"/>
              <a:buAutoNum type="arabicPeriod"/>
            </a:pPr>
            <a:r>
              <a:rPr lang="en-US" dirty="0"/>
              <a:t>Which job roles account for the majority of total salary payouts?</a:t>
            </a:r>
          </a:p>
          <a:p>
            <a:pPr>
              <a:buFont typeface="+mj-lt"/>
              <a:buAutoNum type="arabicPeriod"/>
            </a:pPr>
            <a:r>
              <a:rPr lang="en-US" dirty="0"/>
              <a:t>Does the 80/20 rule apply — do a small number of roles make up most of the salary cost?</a:t>
            </a:r>
          </a:p>
          <a:p>
            <a:pPr>
              <a:buFont typeface="+mj-lt"/>
              <a:buAutoNum type="arabicPeriod"/>
            </a:pPr>
            <a:r>
              <a:rPr lang="en-US" dirty="0"/>
              <a:t>How does this distribution vary by company size or experience level?</a:t>
            </a:r>
          </a:p>
          <a:p>
            <a:pPr>
              <a:buNone/>
            </a:pPr>
            <a:r>
              <a:rPr lang="en-US" b="1" dirty="0"/>
              <a:t>📊 Recommended Visuals in Tableau: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Pareto Chart: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X-axis: Job Title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Left Y-axis: Total Salary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Right Y-axis: Cumulative % of Total Salary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Filters: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Experience Level, Company Size, or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KPI Card: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“Top 20% Roles Contribute X% of Total Salary”</a:t>
            </a:r>
          </a:p>
          <a:p>
            <a:pPr>
              <a:buNone/>
            </a:pPr>
            <a:r>
              <a:rPr lang="en-US" b="1" dirty="0"/>
              <a:t>💡 Insight Example:</a:t>
            </a:r>
          </a:p>
          <a:p>
            <a:pPr>
              <a:buNone/>
            </a:pPr>
            <a:r>
              <a:rPr lang="en-US" dirty="0"/>
              <a:t>The top 10 job titles (out of 60+) contribute 78% of total salary costs, indicating a strong Pareto concentration in senior and technical roles.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03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3A49D1-2176-F1BB-10D4-CE8881F8CD6B}"/>
              </a:ext>
            </a:extLst>
          </p:cNvPr>
          <p:cNvSpPr txBox="1"/>
          <p:nvPr/>
        </p:nvSpPr>
        <p:spPr>
          <a:xfrm>
            <a:off x="108154" y="117987"/>
            <a:ext cx="1197569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🌍 Problem Statement 2: Global Salary Trends Motion Chart (2020–2025)</a:t>
            </a:r>
          </a:p>
          <a:p>
            <a:pPr>
              <a:buNone/>
            </a:pPr>
            <a:r>
              <a:rPr lang="en-US" b="1" dirty="0"/>
              <a:t>🎯 Objective:</a:t>
            </a:r>
          </a:p>
          <a:p>
            <a:pPr>
              <a:buNone/>
            </a:pPr>
            <a:r>
              <a:rPr lang="en-US" dirty="0"/>
              <a:t>To visualize how salaries evolve across time for different job roles, countries, and experience levels, using </a:t>
            </a:r>
            <a:r>
              <a:rPr lang="en-US" b="1" dirty="0"/>
              <a:t>motion charts</a:t>
            </a:r>
            <a:r>
              <a:rPr lang="en-US" dirty="0"/>
              <a:t> (bubble animation over time).</a:t>
            </a:r>
          </a:p>
          <a:p>
            <a:pPr>
              <a:buNone/>
            </a:pPr>
            <a:r>
              <a:rPr lang="en-US" b="1" dirty="0"/>
              <a:t>🧾 Dataset:</a:t>
            </a:r>
          </a:p>
          <a:p>
            <a:pPr>
              <a:buNone/>
            </a:pPr>
            <a:r>
              <a:rPr lang="en-US" dirty="0"/>
              <a:t>Same dataset fields — focus on </a:t>
            </a:r>
            <a:r>
              <a:rPr lang="en-US" dirty="0" err="1">
                <a:latin typeface="Courier New" panose="02070309020205020404" pitchFamily="49" charset="0"/>
              </a:rPr>
              <a:t>work_year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salary_in_usd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job_title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employee_residence</a:t>
            </a:r>
            <a:r>
              <a:rPr lang="en-US" dirty="0"/>
              <a:t>, and </a:t>
            </a:r>
            <a:r>
              <a:rPr lang="en-US" dirty="0" err="1">
                <a:latin typeface="Courier New" panose="02070309020205020404" pitchFamily="49" charset="0"/>
              </a:rPr>
              <a:t>experience_level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🔍 Key Questions:</a:t>
            </a:r>
          </a:p>
          <a:p>
            <a:pPr>
              <a:buFont typeface="+mj-lt"/>
              <a:buAutoNum type="arabicPeriod"/>
            </a:pPr>
            <a:r>
              <a:rPr lang="en-US" dirty="0"/>
              <a:t>How have average salaries changed over time for each job role?</a:t>
            </a:r>
          </a:p>
          <a:p>
            <a:pPr>
              <a:buFont typeface="+mj-lt"/>
              <a:buAutoNum type="arabicPeriod"/>
            </a:pPr>
            <a:r>
              <a:rPr lang="en-US" dirty="0"/>
              <a:t>Which countries have shown the fastest salary growth?</a:t>
            </a:r>
          </a:p>
          <a:p>
            <a:pPr>
              <a:buFont typeface="+mj-lt"/>
              <a:buAutoNum type="arabicPeriod"/>
            </a:pPr>
            <a:r>
              <a:rPr lang="en-US" dirty="0"/>
              <a:t>Are senior-level roles growing faster than entry-level ones?</a:t>
            </a:r>
          </a:p>
          <a:p>
            <a:pPr>
              <a:buNone/>
            </a:pPr>
            <a:r>
              <a:rPr lang="en-US" b="1" dirty="0"/>
              <a:t>📊 Recommended Visuals in Tableau: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Motion Chart (Animated Bubble Plot):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X-axis: Average Salary (USD)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Y-axis: Work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Bubble Size: Average Salary or Count of Employees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Color: Job Title or Country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Animation: Year (</a:t>
            </a:r>
            <a:r>
              <a:rPr lang="en-US" dirty="0" err="1"/>
              <a:t>work_year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b="1" dirty="0"/>
              <a:t>💡 Insight Example:</a:t>
            </a:r>
          </a:p>
          <a:p>
            <a:pPr>
              <a:buNone/>
            </a:pPr>
            <a:r>
              <a:rPr lang="en-US" dirty="0"/>
              <a:t>Between 2020 and 2025, remote data roles in the US and India show a 35% salary growth, while traditional engineering roles remain steady.</a:t>
            </a:r>
          </a:p>
        </p:txBody>
      </p:sp>
    </p:spTree>
    <p:extLst>
      <p:ext uri="{BB962C8B-B14F-4D97-AF65-F5344CB8AC3E}">
        <p14:creationId xmlns:p14="http://schemas.microsoft.com/office/powerpoint/2010/main" val="734380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dhoke</dc:creator>
  <cp:lastModifiedBy>kartik dhoke</cp:lastModifiedBy>
  <cp:revision>1</cp:revision>
  <dcterms:created xsi:type="dcterms:W3CDTF">2025-11-12T08:19:24Z</dcterms:created>
  <dcterms:modified xsi:type="dcterms:W3CDTF">2025-11-12T08:19:24Z</dcterms:modified>
</cp:coreProperties>
</file>